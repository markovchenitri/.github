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8" r:id="rId2"/>
    <p:sldId id="259" r:id="rId3"/>
    <p:sldId id="262" r:id="rId4"/>
    <p:sldId id="261" r:id="rId5"/>
    <p:sldId id="260" r:id="rId6"/>
  </p:sldIdLst>
  <p:sldSz cx="12192000" cy="6858000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ydRVMpFXdc17OKLKO5AglQmWb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9750"/>
            <a:ext cx="2946400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e6f8ddc8c5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g3e6f8ddc8c5_0_100:notes"/>
          <p:cNvSpPr txBox="1">
            <a:spLocks noGrp="1"/>
          </p:cNvSpPr>
          <p:nvPr>
            <p:ph type="body" idx="1"/>
          </p:nvPr>
        </p:nvSpPr>
        <p:spPr>
          <a:xfrm>
            <a:off x="679450" y="4778375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 sz="1700"/>
              <a:t>訂立的目標及架構並非為追求完整的。請遵循SMART原則：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600"/>
              <a:t>明確 (Specific)：目標需精準確實</a:t>
            </a:r>
            <a:endParaRPr sz="16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600"/>
              <a:t>可衡量 (Measurable)：目標需能夠清楚衡量</a:t>
            </a:r>
            <a:endParaRPr sz="16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600"/>
              <a:t>可接受 (Acceptable)：目標要能被團隊/投資人所接受</a:t>
            </a:r>
            <a:endParaRPr sz="16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600"/>
              <a:t>實際( Realistic)：目標要能夠達成</a:t>
            </a:r>
            <a:endParaRPr sz="16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600"/>
              <a:t>時限(Time-bound)：目標需在設定時間內完成</a:t>
            </a:r>
            <a:endParaRPr sz="1600"/>
          </a:p>
        </p:txBody>
      </p:sp>
      <p:sp>
        <p:nvSpPr>
          <p:cNvPr id="50" name="Google Shape;50;g3e6f8ddc8c5_0_100:notes"/>
          <p:cNvSpPr txBox="1">
            <a:spLocks noGrp="1"/>
          </p:cNvSpPr>
          <p:nvPr>
            <p:ph type="sldNum" idx="12"/>
          </p:nvPr>
        </p:nvSpPr>
        <p:spPr>
          <a:xfrm>
            <a:off x="3849688" y="9429750"/>
            <a:ext cx="29463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AB4A45BB-3C11-7726-FC88-82CE2ABFE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e6f8ddc8c5_0_100:notes">
            <a:extLst>
              <a:ext uri="{FF2B5EF4-FFF2-40B4-BE49-F238E27FC236}">
                <a16:creationId xmlns:a16="http://schemas.microsoft.com/office/drawing/2014/main" id="{CB2DCD46-6796-67C6-B7A1-461B880A44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g3e6f8ddc8c5_0_100:notes">
            <a:extLst>
              <a:ext uri="{FF2B5EF4-FFF2-40B4-BE49-F238E27FC236}">
                <a16:creationId xmlns:a16="http://schemas.microsoft.com/office/drawing/2014/main" id="{133FA0B5-295B-17F6-A2DD-131018B329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450" y="4778375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 sz="1700"/>
              <a:t>訂立的目標及架構並非為追求完整的。請遵循SMART原則：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600"/>
              <a:t>明確 (Specific)：目標需精準確實</a:t>
            </a:r>
            <a:endParaRPr sz="16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600"/>
              <a:t>可衡量 (Measurable)：目標需能夠清楚衡量</a:t>
            </a:r>
            <a:endParaRPr sz="16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600"/>
              <a:t>可接受 (Acceptable)：目標要能被團隊/投資人所接受</a:t>
            </a:r>
            <a:endParaRPr sz="16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600"/>
              <a:t>實際( Realistic)：目標要能夠達成</a:t>
            </a:r>
            <a:endParaRPr sz="16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600"/>
              <a:t>時限(Time-bound)：目標需在設定時間內完成</a:t>
            </a:r>
            <a:endParaRPr sz="1600"/>
          </a:p>
        </p:txBody>
      </p:sp>
      <p:sp>
        <p:nvSpPr>
          <p:cNvPr id="50" name="Google Shape;50;g3e6f8ddc8c5_0_100:notes">
            <a:extLst>
              <a:ext uri="{FF2B5EF4-FFF2-40B4-BE49-F238E27FC236}">
                <a16:creationId xmlns:a16="http://schemas.microsoft.com/office/drawing/2014/main" id="{4B6D07B6-C104-07FB-D9AD-7FF8F393DE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49688" y="9429750"/>
            <a:ext cx="29463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4804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519599" y="1225935"/>
            <a:ext cx="11152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1999" cy="78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2B3"/>
              </a:buClr>
              <a:buSzPts val="3600"/>
              <a:buFont typeface="Microsoft YaHei"/>
              <a:buNone/>
              <a:defRPr sz="3600" b="1">
                <a:solidFill>
                  <a:srgbClr val="00B2B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09266" y="0"/>
            <a:ext cx="682734" cy="31033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/>
          <p:nvPr/>
        </p:nvSpPr>
        <p:spPr>
          <a:xfrm>
            <a:off x="0" y="6642556"/>
            <a:ext cx="785336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zh-TW" sz="8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工業技術研究院機密資料 禁止複製、轉載、外流 ITRI CONFIDENTIAL DOCUMENT DO NOT COPY OR DISTRIBUTE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2"/>
          <p:cNvSpPr txBox="1"/>
          <p:nvPr/>
        </p:nvSpPr>
        <p:spPr>
          <a:xfrm>
            <a:off x="11916927" y="6533234"/>
            <a:ext cx="275073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rebuchet MS"/>
              <a:buNone/>
              <a:defRPr sz="4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5" name="Google Shape;1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09266" y="0"/>
            <a:ext cx="682734" cy="3103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6f8ddc8c5_0_10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/>
              <a:t>系統架構及具體交付項目</a:t>
            </a:r>
            <a:endParaRPr/>
          </a:p>
        </p:txBody>
      </p:sp>
      <p:sp>
        <p:nvSpPr>
          <p:cNvPr id="53" name="Google Shape;53;g3e6f8ddc8c5_0_100"/>
          <p:cNvSpPr/>
          <p:nvPr/>
        </p:nvSpPr>
        <p:spPr>
          <a:xfrm>
            <a:off x="250095" y="2368379"/>
            <a:ext cx="1259406" cy="2521574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次世代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智慧化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鋰電池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維修檢測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平台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e6f8ddc8c5_0_100"/>
          <p:cNvSpPr/>
          <p:nvPr/>
        </p:nvSpPr>
        <p:spPr>
          <a:xfrm>
            <a:off x="2179851" y="1318372"/>
            <a:ext cx="3083400" cy="8283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鋰電池維修平台硬體研發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e6f8ddc8c5_0_100"/>
          <p:cNvSpPr/>
          <p:nvPr/>
        </p:nvSpPr>
        <p:spPr>
          <a:xfrm>
            <a:off x="2179851" y="3224252"/>
            <a:ext cx="3083400" cy="8283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智慧安全監控與預警軟體研發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e6f8ddc8c5_0_100"/>
          <p:cNvSpPr/>
          <p:nvPr/>
        </p:nvSpPr>
        <p:spPr>
          <a:xfrm>
            <a:off x="5986436" y="1019922"/>
            <a:ext cx="4740000" cy="540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1.1 多重感測電池維修檢測平台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3e6f8ddc8c5_0_100"/>
          <p:cNvSpPr/>
          <p:nvPr/>
        </p:nvSpPr>
        <p:spPr>
          <a:xfrm>
            <a:off x="5986436" y="1943337"/>
            <a:ext cx="4740000" cy="540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1.2 自走式導引防火載具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e6f8ddc8c5_0_100"/>
          <p:cNvSpPr/>
          <p:nvPr/>
        </p:nvSpPr>
        <p:spPr>
          <a:xfrm>
            <a:off x="5978172" y="2875218"/>
            <a:ext cx="4740000" cy="540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2.1 AI多感測整合預警系統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e6f8ddc8c5_0_100"/>
          <p:cNvSpPr/>
          <p:nvPr/>
        </p:nvSpPr>
        <p:spPr>
          <a:xfrm>
            <a:off x="5986436" y="3859074"/>
            <a:ext cx="4740000" cy="540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2.2 生成式 AI 維修輔助系統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3e6f8ddc8c5_0_100"/>
          <p:cNvSpPr/>
          <p:nvPr/>
        </p:nvSpPr>
        <p:spPr>
          <a:xfrm>
            <a:off x="5942499" y="4786875"/>
            <a:ext cx="4740000" cy="540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3.1 系統整合測試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g3e6f8ddc8c5_0_100"/>
          <p:cNvCxnSpPr>
            <a:stCxn id="53" idx="3"/>
            <a:endCxn id="54" idx="1"/>
          </p:cNvCxnSpPr>
          <p:nvPr/>
        </p:nvCxnSpPr>
        <p:spPr>
          <a:xfrm rot="10800000" flipH="1">
            <a:off x="1509501" y="1732566"/>
            <a:ext cx="670500" cy="1896600"/>
          </a:xfrm>
          <a:prstGeom prst="bentConnector3">
            <a:avLst>
              <a:gd name="adj1" fmla="val 49989"/>
            </a:avLst>
          </a:prstGeom>
          <a:solidFill>
            <a:srgbClr val="4472C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g3e6f8ddc8c5_0_100"/>
          <p:cNvCxnSpPr>
            <a:stCxn id="53" idx="3"/>
            <a:endCxn id="55" idx="1"/>
          </p:cNvCxnSpPr>
          <p:nvPr/>
        </p:nvCxnSpPr>
        <p:spPr>
          <a:xfrm>
            <a:off x="1509501" y="3629166"/>
            <a:ext cx="670500" cy="9300"/>
          </a:xfrm>
          <a:prstGeom prst="bentConnector3">
            <a:avLst>
              <a:gd name="adj1" fmla="val 49989"/>
            </a:avLst>
          </a:prstGeom>
          <a:solidFill>
            <a:srgbClr val="4472C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" name="Google Shape;63;g3e6f8ddc8c5_0_100"/>
          <p:cNvCxnSpPr>
            <a:stCxn id="54" idx="3"/>
            <a:endCxn id="56" idx="1"/>
          </p:cNvCxnSpPr>
          <p:nvPr/>
        </p:nvCxnSpPr>
        <p:spPr>
          <a:xfrm rot="10800000" flipH="1">
            <a:off x="5263251" y="1290022"/>
            <a:ext cx="723300" cy="442500"/>
          </a:xfrm>
          <a:prstGeom prst="bentConnector3">
            <a:avLst>
              <a:gd name="adj1" fmla="val 49992"/>
            </a:avLst>
          </a:prstGeom>
          <a:solidFill>
            <a:srgbClr val="4472C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" name="Google Shape;64;g3e6f8ddc8c5_0_100"/>
          <p:cNvCxnSpPr>
            <a:stCxn id="54" idx="3"/>
            <a:endCxn id="57" idx="1"/>
          </p:cNvCxnSpPr>
          <p:nvPr/>
        </p:nvCxnSpPr>
        <p:spPr>
          <a:xfrm>
            <a:off x="5263251" y="1732522"/>
            <a:ext cx="723300" cy="480900"/>
          </a:xfrm>
          <a:prstGeom prst="bentConnector3">
            <a:avLst>
              <a:gd name="adj1" fmla="val 49992"/>
            </a:avLst>
          </a:prstGeom>
          <a:solidFill>
            <a:srgbClr val="4472C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" name="Google Shape;65;g3e6f8ddc8c5_0_100"/>
          <p:cNvCxnSpPr>
            <a:stCxn id="55" idx="3"/>
            <a:endCxn id="58" idx="1"/>
          </p:cNvCxnSpPr>
          <p:nvPr/>
        </p:nvCxnSpPr>
        <p:spPr>
          <a:xfrm rot="10800000" flipH="1">
            <a:off x="5263251" y="3145202"/>
            <a:ext cx="714900" cy="493200"/>
          </a:xfrm>
          <a:prstGeom prst="bentConnector3">
            <a:avLst>
              <a:gd name="adj1" fmla="val 50001"/>
            </a:avLst>
          </a:prstGeom>
          <a:solidFill>
            <a:srgbClr val="4472C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" name="Google Shape;66;g3e6f8ddc8c5_0_100"/>
          <p:cNvCxnSpPr>
            <a:stCxn id="55" idx="3"/>
            <a:endCxn id="59" idx="1"/>
          </p:cNvCxnSpPr>
          <p:nvPr/>
        </p:nvCxnSpPr>
        <p:spPr>
          <a:xfrm>
            <a:off x="5263251" y="3638402"/>
            <a:ext cx="723300" cy="490800"/>
          </a:xfrm>
          <a:prstGeom prst="bentConnector3">
            <a:avLst>
              <a:gd name="adj1" fmla="val 49992"/>
            </a:avLst>
          </a:prstGeom>
          <a:solidFill>
            <a:srgbClr val="4472C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" name="Google Shape;67;g3e6f8ddc8c5_0_100"/>
          <p:cNvCxnSpPr>
            <a:stCxn id="68" idx="3"/>
            <a:endCxn id="60" idx="1"/>
          </p:cNvCxnSpPr>
          <p:nvPr/>
        </p:nvCxnSpPr>
        <p:spPr>
          <a:xfrm rot="10800000" flipH="1">
            <a:off x="5270555" y="5056733"/>
            <a:ext cx="672000" cy="401100"/>
          </a:xfrm>
          <a:prstGeom prst="bentConnector3">
            <a:avLst>
              <a:gd name="adj1" fmla="val 49996"/>
            </a:avLst>
          </a:prstGeom>
          <a:solidFill>
            <a:srgbClr val="4472C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Google Shape;69;g3e6f8ddc8c5_0_100"/>
          <p:cNvSpPr txBox="1"/>
          <p:nvPr/>
        </p:nvSpPr>
        <p:spPr>
          <a:xfrm>
            <a:off x="2119401" y="2165599"/>
            <a:ext cx="2465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rebuchet MS"/>
              <a:buNone/>
            </a:pPr>
            <a:r>
              <a:rPr lang="zh-TW" sz="16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權重40%</a:t>
            </a:r>
            <a:endParaRPr sz="16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" name="Google Shape;70;g3e6f8ddc8c5_0_100"/>
          <p:cNvSpPr txBox="1"/>
          <p:nvPr/>
        </p:nvSpPr>
        <p:spPr>
          <a:xfrm>
            <a:off x="2119401" y="4085776"/>
            <a:ext cx="2465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rebuchet MS"/>
              <a:buNone/>
            </a:pPr>
            <a:r>
              <a:rPr lang="zh-TW" sz="16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權重40%</a:t>
            </a:r>
            <a:endParaRPr sz="16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" name="Google Shape;71;g3e6f8ddc8c5_0_100"/>
          <p:cNvSpPr txBox="1"/>
          <p:nvPr/>
        </p:nvSpPr>
        <p:spPr>
          <a:xfrm>
            <a:off x="5978178" y="2490932"/>
            <a:ext cx="533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權重20% (執行單位：亞勁車電)</a:t>
            </a:r>
            <a:endParaRPr/>
          </a:p>
        </p:txBody>
      </p:sp>
      <p:sp>
        <p:nvSpPr>
          <p:cNvPr id="72" name="Google Shape;72;g3e6f8ddc8c5_0_100"/>
          <p:cNvSpPr txBox="1"/>
          <p:nvPr/>
        </p:nvSpPr>
        <p:spPr>
          <a:xfrm>
            <a:off x="5978202" y="4410460"/>
            <a:ext cx="533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權重20% (執行單位：亞勁車電12%+工研院8%)</a:t>
            </a:r>
            <a:endParaRPr/>
          </a:p>
        </p:txBody>
      </p:sp>
      <p:sp>
        <p:nvSpPr>
          <p:cNvPr id="73" name="Google Shape;73;g3e6f8ddc8c5_0_100"/>
          <p:cNvSpPr txBox="1"/>
          <p:nvPr/>
        </p:nvSpPr>
        <p:spPr>
          <a:xfrm>
            <a:off x="5942527" y="5329081"/>
            <a:ext cx="533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權重15% (執行單位：亞勁車電)</a:t>
            </a:r>
            <a:endParaRPr/>
          </a:p>
        </p:txBody>
      </p:sp>
      <p:sp>
        <p:nvSpPr>
          <p:cNvPr id="74" name="Google Shape;74;g3e6f8ddc8c5_0_100"/>
          <p:cNvSpPr txBox="1"/>
          <p:nvPr/>
        </p:nvSpPr>
        <p:spPr>
          <a:xfrm>
            <a:off x="5969276" y="3417019"/>
            <a:ext cx="533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權重20% (執行單位：亞勁車電12%+工研院8%)</a:t>
            </a:r>
            <a:endParaRPr/>
          </a:p>
        </p:txBody>
      </p:sp>
      <p:sp>
        <p:nvSpPr>
          <p:cNvPr id="75" name="Google Shape;75;g3e6f8ddc8c5_0_100"/>
          <p:cNvSpPr txBox="1"/>
          <p:nvPr/>
        </p:nvSpPr>
        <p:spPr>
          <a:xfrm>
            <a:off x="5978178" y="1561928"/>
            <a:ext cx="533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</a:pPr>
            <a:r>
              <a:rPr lang="zh-TW"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權重20% (執行單位：亞勁車電)</a:t>
            </a:r>
            <a:endParaRPr/>
          </a:p>
        </p:txBody>
      </p:sp>
      <p:sp>
        <p:nvSpPr>
          <p:cNvPr id="68" name="Google Shape;68;g3e6f8ddc8c5_0_100"/>
          <p:cNvSpPr/>
          <p:nvPr/>
        </p:nvSpPr>
        <p:spPr>
          <a:xfrm>
            <a:off x="2187155" y="5043683"/>
            <a:ext cx="3083400" cy="8283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整合測試與場域驗證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e6f8ddc8c5_0_100"/>
          <p:cNvSpPr txBox="1"/>
          <p:nvPr/>
        </p:nvSpPr>
        <p:spPr>
          <a:xfrm>
            <a:off x="2145177" y="5871983"/>
            <a:ext cx="2465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rebuchet MS"/>
              <a:buNone/>
            </a:pPr>
            <a:r>
              <a:rPr lang="zh-TW" sz="16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權重20%</a:t>
            </a:r>
            <a:endParaRPr sz="16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7" name="Google Shape;77;g3e6f8ddc8c5_0_100"/>
          <p:cNvCxnSpPr>
            <a:stCxn id="53" idx="3"/>
            <a:endCxn id="68" idx="1"/>
          </p:cNvCxnSpPr>
          <p:nvPr/>
        </p:nvCxnSpPr>
        <p:spPr>
          <a:xfrm>
            <a:off x="1509501" y="3629166"/>
            <a:ext cx="677700" cy="1828800"/>
          </a:xfrm>
          <a:prstGeom prst="bentConnector3">
            <a:avLst>
              <a:gd name="adj1" fmla="val 49997"/>
            </a:avLst>
          </a:prstGeom>
          <a:solidFill>
            <a:srgbClr val="4472C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" name="Google Shape;78;g3e6f8ddc8c5_0_100"/>
          <p:cNvSpPr/>
          <p:nvPr/>
        </p:nvSpPr>
        <p:spPr>
          <a:xfrm>
            <a:off x="5933601" y="5610871"/>
            <a:ext cx="4740000" cy="540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3.2 資安保護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e6f8ddc8c5_0_100"/>
          <p:cNvSpPr txBox="1"/>
          <p:nvPr/>
        </p:nvSpPr>
        <p:spPr>
          <a:xfrm>
            <a:off x="5933629" y="6217729"/>
            <a:ext cx="533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權重5% (執行單位：亞勁車電)</a:t>
            </a:r>
            <a:endParaRPr/>
          </a:p>
        </p:txBody>
      </p:sp>
      <p:cxnSp>
        <p:nvCxnSpPr>
          <p:cNvPr id="80" name="Google Shape;80;g3e6f8ddc8c5_0_100"/>
          <p:cNvCxnSpPr>
            <a:stCxn id="68" idx="3"/>
            <a:endCxn id="78" idx="1"/>
          </p:cNvCxnSpPr>
          <p:nvPr/>
        </p:nvCxnSpPr>
        <p:spPr>
          <a:xfrm>
            <a:off x="5270555" y="5457833"/>
            <a:ext cx="663000" cy="423000"/>
          </a:xfrm>
          <a:prstGeom prst="bentConnector3">
            <a:avLst>
              <a:gd name="adj1" fmla="val 50003"/>
            </a:avLst>
          </a:prstGeom>
          <a:solidFill>
            <a:srgbClr val="4472C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>
          <a:extLst>
            <a:ext uri="{FF2B5EF4-FFF2-40B4-BE49-F238E27FC236}">
              <a16:creationId xmlns:a16="http://schemas.microsoft.com/office/drawing/2014/main" id="{6B6E4867-8406-D90B-99D2-E5BEB203E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6f8ddc8c5_0_100">
            <a:extLst>
              <a:ext uri="{FF2B5EF4-FFF2-40B4-BE49-F238E27FC236}">
                <a16:creationId xmlns:a16="http://schemas.microsoft.com/office/drawing/2014/main" id="{D5634917-1788-C8F7-7565-99FC3595B0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/>
              <a:t>系統架構及具體交付項目</a:t>
            </a:r>
            <a:endParaRPr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0A0CA1A8-036D-8975-BAD1-040778A8056E}"/>
              </a:ext>
            </a:extLst>
          </p:cNvPr>
          <p:cNvGrpSpPr/>
          <p:nvPr/>
        </p:nvGrpSpPr>
        <p:grpSpPr>
          <a:xfrm>
            <a:off x="888270" y="1048497"/>
            <a:ext cx="11062107" cy="5536507"/>
            <a:chOff x="250095" y="1019922"/>
            <a:chExt cx="11062107" cy="5536507"/>
          </a:xfrm>
        </p:grpSpPr>
        <p:sp>
          <p:nvSpPr>
            <p:cNvPr id="53" name="Google Shape;53;g3e6f8ddc8c5_0_100">
              <a:extLst>
                <a:ext uri="{FF2B5EF4-FFF2-40B4-BE49-F238E27FC236}">
                  <a16:creationId xmlns:a16="http://schemas.microsoft.com/office/drawing/2014/main" id="{71A17DFA-A07C-791A-22FB-B248A94FFDA6}"/>
                </a:ext>
              </a:extLst>
            </p:cNvPr>
            <p:cNvSpPr/>
            <p:nvPr/>
          </p:nvSpPr>
          <p:spPr>
            <a:xfrm>
              <a:off x="250095" y="2368379"/>
              <a:ext cx="1259406" cy="2521574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次世代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智慧化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鋰電池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維修檢測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平台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g3e6f8ddc8c5_0_100">
              <a:extLst>
                <a:ext uri="{FF2B5EF4-FFF2-40B4-BE49-F238E27FC236}">
                  <a16:creationId xmlns:a16="http://schemas.microsoft.com/office/drawing/2014/main" id="{E59B705B-2B57-76F9-3787-0318A00304DE}"/>
                </a:ext>
              </a:extLst>
            </p:cNvPr>
            <p:cNvSpPr/>
            <p:nvPr/>
          </p:nvSpPr>
          <p:spPr>
            <a:xfrm>
              <a:off x="2179851" y="1318372"/>
              <a:ext cx="3083400" cy="828300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altLang="zh-TW" sz="20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1.</a:t>
              </a:r>
              <a:r>
                <a:rPr lang="zh-TW" sz="20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鋰電池維修平台硬體研發</a:t>
              </a:r>
              <a:endParaRPr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3e6f8ddc8c5_0_100">
              <a:extLst>
                <a:ext uri="{FF2B5EF4-FFF2-40B4-BE49-F238E27FC236}">
                  <a16:creationId xmlns:a16="http://schemas.microsoft.com/office/drawing/2014/main" id="{F15BCD5F-985D-FDA1-7A86-B10D5E44D0D9}"/>
                </a:ext>
              </a:extLst>
            </p:cNvPr>
            <p:cNvSpPr/>
            <p:nvPr/>
          </p:nvSpPr>
          <p:spPr>
            <a:xfrm>
              <a:off x="2179851" y="3224252"/>
              <a:ext cx="3083400" cy="828300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altLang="zh-TW" sz="20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2.</a:t>
              </a:r>
              <a:r>
                <a:rPr lang="zh-TW" sz="20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智慧安全監控與預警軟體研發</a:t>
              </a:r>
              <a:endParaRPr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g3e6f8ddc8c5_0_100">
              <a:extLst>
                <a:ext uri="{FF2B5EF4-FFF2-40B4-BE49-F238E27FC236}">
                  <a16:creationId xmlns:a16="http://schemas.microsoft.com/office/drawing/2014/main" id="{FAEA819C-005D-DB7A-8EB5-FD8FFBCDD840}"/>
                </a:ext>
              </a:extLst>
            </p:cNvPr>
            <p:cNvSpPr/>
            <p:nvPr/>
          </p:nvSpPr>
          <p:spPr>
            <a:xfrm>
              <a:off x="5986436" y="1019922"/>
              <a:ext cx="4740000" cy="540000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1.1 多感</a:t>
              </a:r>
              <a:r>
                <a:rPr lang="zh-TW" altLang="en-US" sz="2000" dirty="0"/>
                <a:t>知</a:t>
              </a:r>
              <a:r>
                <a:rPr lang="zh-TW" sz="20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電池維修檢測平台</a:t>
              </a:r>
              <a:endParaRPr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g3e6f8ddc8c5_0_100">
              <a:extLst>
                <a:ext uri="{FF2B5EF4-FFF2-40B4-BE49-F238E27FC236}">
                  <a16:creationId xmlns:a16="http://schemas.microsoft.com/office/drawing/2014/main" id="{568E47CB-E7BC-EA6F-8781-7EA8E282A89D}"/>
                </a:ext>
              </a:extLst>
            </p:cNvPr>
            <p:cNvSpPr/>
            <p:nvPr/>
          </p:nvSpPr>
          <p:spPr>
            <a:xfrm>
              <a:off x="5986436" y="1943337"/>
              <a:ext cx="4740000" cy="540000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1.2 自走式導引防火載具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g3e6f8ddc8c5_0_100">
              <a:extLst>
                <a:ext uri="{FF2B5EF4-FFF2-40B4-BE49-F238E27FC236}">
                  <a16:creationId xmlns:a16="http://schemas.microsoft.com/office/drawing/2014/main" id="{9979FC55-4079-1ADA-2BC5-61496F458C7B}"/>
                </a:ext>
              </a:extLst>
            </p:cNvPr>
            <p:cNvSpPr/>
            <p:nvPr/>
          </p:nvSpPr>
          <p:spPr>
            <a:xfrm>
              <a:off x="5978172" y="2875218"/>
              <a:ext cx="4740000" cy="540000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2.1 AI多感測整合預警系統</a:t>
              </a:r>
              <a:endParaRPr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3e6f8ddc8c5_0_100">
              <a:extLst>
                <a:ext uri="{FF2B5EF4-FFF2-40B4-BE49-F238E27FC236}">
                  <a16:creationId xmlns:a16="http://schemas.microsoft.com/office/drawing/2014/main" id="{BC97FC97-6CCB-C34F-7958-731FBB002C11}"/>
                </a:ext>
              </a:extLst>
            </p:cNvPr>
            <p:cNvSpPr/>
            <p:nvPr/>
          </p:nvSpPr>
          <p:spPr>
            <a:xfrm>
              <a:off x="5986436" y="3859074"/>
              <a:ext cx="4740000" cy="540000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2.2 生成式 AI 維修輔助系統</a:t>
              </a:r>
              <a:endParaRPr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3e6f8ddc8c5_0_100">
              <a:extLst>
                <a:ext uri="{FF2B5EF4-FFF2-40B4-BE49-F238E27FC236}">
                  <a16:creationId xmlns:a16="http://schemas.microsoft.com/office/drawing/2014/main" id="{4857A1E0-939A-FF33-5159-9F18C318AF08}"/>
                </a:ext>
              </a:extLst>
            </p:cNvPr>
            <p:cNvSpPr/>
            <p:nvPr/>
          </p:nvSpPr>
          <p:spPr>
            <a:xfrm>
              <a:off x="5942499" y="4786875"/>
              <a:ext cx="4740000" cy="540000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3.1 系統整合測試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" name="Google Shape;61;g3e6f8ddc8c5_0_100">
              <a:extLst>
                <a:ext uri="{FF2B5EF4-FFF2-40B4-BE49-F238E27FC236}">
                  <a16:creationId xmlns:a16="http://schemas.microsoft.com/office/drawing/2014/main" id="{27EEAFCD-1E46-E353-E7F8-340137EB40B6}"/>
                </a:ext>
              </a:extLst>
            </p:cNvPr>
            <p:cNvCxnSpPr>
              <a:stCxn id="53" idx="3"/>
              <a:endCxn id="54" idx="1"/>
            </p:cNvCxnSpPr>
            <p:nvPr/>
          </p:nvCxnSpPr>
          <p:spPr>
            <a:xfrm rot="10800000" flipH="1">
              <a:off x="1509501" y="1732566"/>
              <a:ext cx="670500" cy="1896600"/>
            </a:xfrm>
            <a:prstGeom prst="bentConnector3">
              <a:avLst>
                <a:gd name="adj1" fmla="val 49989"/>
              </a:avLst>
            </a:prstGeom>
            <a:solidFill>
              <a:srgbClr val="4472C4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" name="Google Shape;62;g3e6f8ddc8c5_0_100">
              <a:extLst>
                <a:ext uri="{FF2B5EF4-FFF2-40B4-BE49-F238E27FC236}">
                  <a16:creationId xmlns:a16="http://schemas.microsoft.com/office/drawing/2014/main" id="{EADE6265-A3B7-CD21-E26E-860B92B78B3E}"/>
                </a:ext>
              </a:extLst>
            </p:cNvPr>
            <p:cNvCxnSpPr>
              <a:stCxn id="53" idx="3"/>
              <a:endCxn id="55" idx="1"/>
            </p:cNvCxnSpPr>
            <p:nvPr/>
          </p:nvCxnSpPr>
          <p:spPr>
            <a:xfrm>
              <a:off x="1509501" y="3629166"/>
              <a:ext cx="670500" cy="9300"/>
            </a:xfrm>
            <a:prstGeom prst="bentConnector3">
              <a:avLst>
                <a:gd name="adj1" fmla="val 49989"/>
              </a:avLst>
            </a:prstGeom>
            <a:solidFill>
              <a:srgbClr val="4472C4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" name="Google Shape;63;g3e6f8ddc8c5_0_100">
              <a:extLst>
                <a:ext uri="{FF2B5EF4-FFF2-40B4-BE49-F238E27FC236}">
                  <a16:creationId xmlns:a16="http://schemas.microsoft.com/office/drawing/2014/main" id="{E83B1CE7-8172-BC8B-782D-29F21CCD2015}"/>
                </a:ext>
              </a:extLst>
            </p:cNvPr>
            <p:cNvCxnSpPr>
              <a:stCxn id="54" idx="3"/>
              <a:endCxn id="56" idx="1"/>
            </p:cNvCxnSpPr>
            <p:nvPr/>
          </p:nvCxnSpPr>
          <p:spPr>
            <a:xfrm rot="10800000" flipH="1">
              <a:off x="5263251" y="1290022"/>
              <a:ext cx="723300" cy="442500"/>
            </a:xfrm>
            <a:prstGeom prst="bentConnector3">
              <a:avLst>
                <a:gd name="adj1" fmla="val 49992"/>
              </a:avLst>
            </a:prstGeom>
            <a:solidFill>
              <a:srgbClr val="4472C4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" name="Google Shape;64;g3e6f8ddc8c5_0_100">
              <a:extLst>
                <a:ext uri="{FF2B5EF4-FFF2-40B4-BE49-F238E27FC236}">
                  <a16:creationId xmlns:a16="http://schemas.microsoft.com/office/drawing/2014/main" id="{D397ACA8-BF64-66C7-F899-2DF22FAB956B}"/>
                </a:ext>
              </a:extLst>
            </p:cNvPr>
            <p:cNvCxnSpPr>
              <a:stCxn id="54" idx="3"/>
              <a:endCxn id="57" idx="1"/>
            </p:cNvCxnSpPr>
            <p:nvPr/>
          </p:nvCxnSpPr>
          <p:spPr>
            <a:xfrm>
              <a:off x="5263251" y="1732522"/>
              <a:ext cx="723300" cy="480900"/>
            </a:xfrm>
            <a:prstGeom prst="bentConnector3">
              <a:avLst>
                <a:gd name="adj1" fmla="val 49992"/>
              </a:avLst>
            </a:prstGeom>
            <a:solidFill>
              <a:srgbClr val="4472C4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5" name="Google Shape;65;g3e6f8ddc8c5_0_100">
              <a:extLst>
                <a:ext uri="{FF2B5EF4-FFF2-40B4-BE49-F238E27FC236}">
                  <a16:creationId xmlns:a16="http://schemas.microsoft.com/office/drawing/2014/main" id="{DEF33609-74ED-3BE5-E2F9-FBAEDA6F2CB5}"/>
                </a:ext>
              </a:extLst>
            </p:cNvPr>
            <p:cNvCxnSpPr>
              <a:stCxn id="55" idx="3"/>
              <a:endCxn id="58" idx="1"/>
            </p:cNvCxnSpPr>
            <p:nvPr/>
          </p:nvCxnSpPr>
          <p:spPr>
            <a:xfrm rot="10800000" flipH="1">
              <a:off x="5263251" y="3145202"/>
              <a:ext cx="714900" cy="493200"/>
            </a:xfrm>
            <a:prstGeom prst="bentConnector3">
              <a:avLst>
                <a:gd name="adj1" fmla="val 50001"/>
              </a:avLst>
            </a:prstGeom>
            <a:solidFill>
              <a:srgbClr val="4472C4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" name="Google Shape;66;g3e6f8ddc8c5_0_100">
              <a:extLst>
                <a:ext uri="{FF2B5EF4-FFF2-40B4-BE49-F238E27FC236}">
                  <a16:creationId xmlns:a16="http://schemas.microsoft.com/office/drawing/2014/main" id="{72EB312D-37D0-2140-4BB1-7983884560CB}"/>
                </a:ext>
              </a:extLst>
            </p:cNvPr>
            <p:cNvCxnSpPr>
              <a:stCxn id="55" idx="3"/>
              <a:endCxn id="59" idx="1"/>
            </p:cNvCxnSpPr>
            <p:nvPr/>
          </p:nvCxnSpPr>
          <p:spPr>
            <a:xfrm>
              <a:off x="5263251" y="3638402"/>
              <a:ext cx="723300" cy="490800"/>
            </a:xfrm>
            <a:prstGeom prst="bentConnector3">
              <a:avLst>
                <a:gd name="adj1" fmla="val 49992"/>
              </a:avLst>
            </a:prstGeom>
            <a:solidFill>
              <a:srgbClr val="4472C4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" name="Google Shape;67;g3e6f8ddc8c5_0_100">
              <a:extLst>
                <a:ext uri="{FF2B5EF4-FFF2-40B4-BE49-F238E27FC236}">
                  <a16:creationId xmlns:a16="http://schemas.microsoft.com/office/drawing/2014/main" id="{90770A48-23F7-CABE-0C49-52F30CF46502}"/>
                </a:ext>
              </a:extLst>
            </p:cNvPr>
            <p:cNvCxnSpPr>
              <a:stCxn id="68" idx="3"/>
              <a:endCxn id="60" idx="1"/>
            </p:cNvCxnSpPr>
            <p:nvPr/>
          </p:nvCxnSpPr>
          <p:spPr>
            <a:xfrm rot="10800000" flipH="1">
              <a:off x="5270555" y="5056733"/>
              <a:ext cx="672000" cy="401100"/>
            </a:xfrm>
            <a:prstGeom prst="bentConnector3">
              <a:avLst>
                <a:gd name="adj1" fmla="val 49996"/>
              </a:avLst>
            </a:prstGeom>
            <a:solidFill>
              <a:srgbClr val="4472C4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9" name="Google Shape;69;g3e6f8ddc8c5_0_100">
              <a:extLst>
                <a:ext uri="{FF2B5EF4-FFF2-40B4-BE49-F238E27FC236}">
                  <a16:creationId xmlns:a16="http://schemas.microsoft.com/office/drawing/2014/main" id="{52D6AA41-7B5C-97FF-EA78-BB7DCCA84BDD}"/>
                </a:ext>
              </a:extLst>
            </p:cNvPr>
            <p:cNvSpPr txBox="1"/>
            <p:nvPr/>
          </p:nvSpPr>
          <p:spPr>
            <a:xfrm>
              <a:off x="2119401" y="2165599"/>
              <a:ext cx="2465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rebuchet MS"/>
                <a:buNone/>
              </a:pPr>
              <a:r>
                <a:rPr lang="zh-TW" sz="16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權重40%</a:t>
              </a:r>
              <a:endParaRPr sz="16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0" name="Google Shape;70;g3e6f8ddc8c5_0_100">
              <a:extLst>
                <a:ext uri="{FF2B5EF4-FFF2-40B4-BE49-F238E27FC236}">
                  <a16:creationId xmlns:a16="http://schemas.microsoft.com/office/drawing/2014/main" id="{9A3E5E1E-195A-EE59-FB09-7788E0B17ABF}"/>
                </a:ext>
              </a:extLst>
            </p:cNvPr>
            <p:cNvSpPr txBox="1"/>
            <p:nvPr/>
          </p:nvSpPr>
          <p:spPr>
            <a:xfrm>
              <a:off x="2119401" y="4085776"/>
              <a:ext cx="2465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rebuchet MS"/>
                <a:buNone/>
              </a:pPr>
              <a:r>
                <a:rPr lang="zh-TW" sz="16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權重40%</a:t>
              </a:r>
              <a:endParaRPr sz="16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1" name="Google Shape;71;g3e6f8ddc8c5_0_100">
              <a:extLst>
                <a:ext uri="{FF2B5EF4-FFF2-40B4-BE49-F238E27FC236}">
                  <a16:creationId xmlns:a16="http://schemas.microsoft.com/office/drawing/2014/main" id="{22B1C349-508B-5116-50BE-533595F806DF}"/>
                </a:ext>
              </a:extLst>
            </p:cNvPr>
            <p:cNvSpPr txBox="1"/>
            <p:nvPr/>
          </p:nvSpPr>
          <p:spPr>
            <a:xfrm>
              <a:off x="5978178" y="2490932"/>
              <a:ext cx="5334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權重20% (執行單位：亞勁車電)</a:t>
              </a:r>
              <a:endParaRPr/>
            </a:p>
          </p:txBody>
        </p:sp>
        <p:sp>
          <p:nvSpPr>
            <p:cNvPr id="72" name="Google Shape;72;g3e6f8ddc8c5_0_100">
              <a:extLst>
                <a:ext uri="{FF2B5EF4-FFF2-40B4-BE49-F238E27FC236}">
                  <a16:creationId xmlns:a16="http://schemas.microsoft.com/office/drawing/2014/main" id="{75E0EF61-1E4A-7AE6-37A1-AF3D10D5B70F}"/>
                </a:ext>
              </a:extLst>
            </p:cNvPr>
            <p:cNvSpPr txBox="1"/>
            <p:nvPr/>
          </p:nvSpPr>
          <p:spPr>
            <a:xfrm>
              <a:off x="5978202" y="4410460"/>
              <a:ext cx="5334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權重20% (執行單位：亞勁車電12%+工研院8%)</a:t>
              </a:r>
              <a:endParaRPr/>
            </a:p>
          </p:txBody>
        </p:sp>
        <p:sp>
          <p:nvSpPr>
            <p:cNvPr id="73" name="Google Shape;73;g3e6f8ddc8c5_0_100">
              <a:extLst>
                <a:ext uri="{FF2B5EF4-FFF2-40B4-BE49-F238E27FC236}">
                  <a16:creationId xmlns:a16="http://schemas.microsoft.com/office/drawing/2014/main" id="{C405C99D-DF7C-61E6-E329-008DB5A68DA4}"/>
                </a:ext>
              </a:extLst>
            </p:cNvPr>
            <p:cNvSpPr txBox="1"/>
            <p:nvPr/>
          </p:nvSpPr>
          <p:spPr>
            <a:xfrm>
              <a:off x="5942527" y="5329081"/>
              <a:ext cx="5334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權重15% (執行單位：亞勁車電)</a:t>
              </a:r>
              <a:endParaRPr/>
            </a:p>
          </p:txBody>
        </p:sp>
        <p:sp>
          <p:nvSpPr>
            <p:cNvPr id="74" name="Google Shape;74;g3e6f8ddc8c5_0_100">
              <a:extLst>
                <a:ext uri="{FF2B5EF4-FFF2-40B4-BE49-F238E27FC236}">
                  <a16:creationId xmlns:a16="http://schemas.microsoft.com/office/drawing/2014/main" id="{0CF07C77-4A62-9FFA-81FD-74BBB889B0A2}"/>
                </a:ext>
              </a:extLst>
            </p:cNvPr>
            <p:cNvSpPr txBox="1"/>
            <p:nvPr/>
          </p:nvSpPr>
          <p:spPr>
            <a:xfrm>
              <a:off x="5969276" y="3417019"/>
              <a:ext cx="5334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權重20% (執行單位：亞勁車電12%+工研院8%)</a:t>
              </a:r>
              <a:endParaRPr/>
            </a:p>
          </p:txBody>
        </p:sp>
        <p:sp>
          <p:nvSpPr>
            <p:cNvPr id="75" name="Google Shape;75;g3e6f8ddc8c5_0_100">
              <a:extLst>
                <a:ext uri="{FF2B5EF4-FFF2-40B4-BE49-F238E27FC236}">
                  <a16:creationId xmlns:a16="http://schemas.microsoft.com/office/drawing/2014/main" id="{2E27418B-EA5B-A8FD-B0CB-3DCDF4CC1E33}"/>
                </a:ext>
              </a:extLst>
            </p:cNvPr>
            <p:cNvSpPr txBox="1"/>
            <p:nvPr/>
          </p:nvSpPr>
          <p:spPr>
            <a:xfrm>
              <a:off x="5978178" y="1561928"/>
              <a:ext cx="5334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rebuchet MS"/>
                <a:buNone/>
              </a:pPr>
              <a:r>
                <a:rPr lang="zh-TW" sz="160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權重20% (執行單位：亞勁車電)</a:t>
              </a:r>
              <a:endParaRPr/>
            </a:p>
          </p:txBody>
        </p:sp>
        <p:sp>
          <p:nvSpPr>
            <p:cNvPr id="68" name="Google Shape;68;g3e6f8ddc8c5_0_100">
              <a:extLst>
                <a:ext uri="{FF2B5EF4-FFF2-40B4-BE49-F238E27FC236}">
                  <a16:creationId xmlns:a16="http://schemas.microsoft.com/office/drawing/2014/main" id="{04933F35-195D-CA51-9B3F-39C53943CEF9}"/>
                </a:ext>
              </a:extLst>
            </p:cNvPr>
            <p:cNvSpPr/>
            <p:nvPr/>
          </p:nvSpPr>
          <p:spPr>
            <a:xfrm>
              <a:off x="2187155" y="5043683"/>
              <a:ext cx="3083400" cy="828300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altLang="zh-TW" sz="20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3.</a:t>
              </a:r>
              <a:r>
                <a:rPr lang="zh-TW" sz="20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整合測試與場域驗證</a:t>
              </a:r>
              <a:endParaRPr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g3e6f8ddc8c5_0_100">
              <a:extLst>
                <a:ext uri="{FF2B5EF4-FFF2-40B4-BE49-F238E27FC236}">
                  <a16:creationId xmlns:a16="http://schemas.microsoft.com/office/drawing/2014/main" id="{DDE8C50A-EF24-7B7C-20FE-CB7465E684AF}"/>
                </a:ext>
              </a:extLst>
            </p:cNvPr>
            <p:cNvSpPr txBox="1"/>
            <p:nvPr/>
          </p:nvSpPr>
          <p:spPr>
            <a:xfrm>
              <a:off x="2145177" y="5871983"/>
              <a:ext cx="2465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rebuchet MS"/>
                <a:buNone/>
              </a:pPr>
              <a:r>
                <a:rPr lang="zh-TW" sz="16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權重20%</a:t>
              </a:r>
              <a:endParaRPr sz="16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77" name="Google Shape;77;g3e6f8ddc8c5_0_100">
              <a:extLst>
                <a:ext uri="{FF2B5EF4-FFF2-40B4-BE49-F238E27FC236}">
                  <a16:creationId xmlns:a16="http://schemas.microsoft.com/office/drawing/2014/main" id="{DC07F877-EB18-52FD-13A3-9AB281B155FA}"/>
                </a:ext>
              </a:extLst>
            </p:cNvPr>
            <p:cNvCxnSpPr>
              <a:stCxn id="53" idx="3"/>
              <a:endCxn id="68" idx="1"/>
            </p:cNvCxnSpPr>
            <p:nvPr/>
          </p:nvCxnSpPr>
          <p:spPr>
            <a:xfrm>
              <a:off x="1509501" y="3629166"/>
              <a:ext cx="677700" cy="1828800"/>
            </a:xfrm>
            <a:prstGeom prst="bentConnector3">
              <a:avLst>
                <a:gd name="adj1" fmla="val 49997"/>
              </a:avLst>
            </a:prstGeom>
            <a:solidFill>
              <a:srgbClr val="4472C4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8" name="Google Shape;78;g3e6f8ddc8c5_0_100">
              <a:extLst>
                <a:ext uri="{FF2B5EF4-FFF2-40B4-BE49-F238E27FC236}">
                  <a16:creationId xmlns:a16="http://schemas.microsoft.com/office/drawing/2014/main" id="{E6A926D9-6D0B-7A7A-DFEB-E9EEA9FDE9B4}"/>
                </a:ext>
              </a:extLst>
            </p:cNvPr>
            <p:cNvSpPr/>
            <p:nvPr/>
          </p:nvSpPr>
          <p:spPr>
            <a:xfrm>
              <a:off x="5933601" y="5610871"/>
              <a:ext cx="4740000" cy="540000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3.2 資安保護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g3e6f8ddc8c5_0_100">
              <a:extLst>
                <a:ext uri="{FF2B5EF4-FFF2-40B4-BE49-F238E27FC236}">
                  <a16:creationId xmlns:a16="http://schemas.microsoft.com/office/drawing/2014/main" id="{9BB87F1B-0CB0-D2A9-8D82-8B5E78604544}"/>
                </a:ext>
              </a:extLst>
            </p:cNvPr>
            <p:cNvSpPr txBox="1"/>
            <p:nvPr/>
          </p:nvSpPr>
          <p:spPr>
            <a:xfrm>
              <a:off x="5933629" y="6217729"/>
              <a:ext cx="5334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權重5% (執行單位：亞勁車電)</a:t>
              </a:r>
              <a:endParaRPr/>
            </a:p>
          </p:txBody>
        </p:sp>
        <p:cxnSp>
          <p:nvCxnSpPr>
            <p:cNvPr id="80" name="Google Shape;80;g3e6f8ddc8c5_0_100">
              <a:extLst>
                <a:ext uri="{FF2B5EF4-FFF2-40B4-BE49-F238E27FC236}">
                  <a16:creationId xmlns:a16="http://schemas.microsoft.com/office/drawing/2014/main" id="{53217B26-B1BC-8284-DCBE-0147B57932F3}"/>
                </a:ext>
              </a:extLst>
            </p:cNvPr>
            <p:cNvCxnSpPr>
              <a:stCxn id="68" idx="3"/>
              <a:endCxn id="78" idx="1"/>
            </p:cNvCxnSpPr>
            <p:nvPr/>
          </p:nvCxnSpPr>
          <p:spPr>
            <a:xfrm>
              <a:off x="5270555" y="5457833"/>
              <a:ext cx="663000" cy="423000"/>
            </a:xfrm>
            <a:prstGeom prst="bentConnector3">
              <a:avLst>
                <a:gd name="adj1" fmla="val 50003"/>
              </a:avLst>
            </a:prstGeom>
            <a:solidFill>
              <a:srgbClr val="4472C4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483523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068EE4A-2EAB-4349-93BE-AE1C3DADF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165" y="342469"/>
            <a:ext cx="5534797" cy="617306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5CC0BA5-5FA0-5229-E4BF-17ED4676F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203" y="66204"/>
            <a:ext cx="5591955" cy="672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43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E5D6316-18D0-93AA-3805-31EF2DB48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3" y="0"/>
            <a:ext cx="5518254" cy="6858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331179F-2CAC-CC17-64F2-3FC92220D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550" y="178500"/>
            <a:ext cx="5620534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60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DFD1743-45F1-D0ED-BD26-263229EDD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000"/>
            <a:ext cx="6687069" cy="5842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A9D5DB2-2B4F-FE54-3E2C-44C8DAF52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422" y="0"/>
            <a:ext cx="57685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957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541</Words>
  <Application>Microsoft Office PowerPoint</Application>
  <PresentationFormat>寬螢幕</PresentationFormat>
  <Paragraphs>62</Paragraphs>
  <Slides>5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Microsoft YaHei</vt:lpstr>
      <vt:lpstr>Arial</vt:lpstr>
      <vt:lpstr>Calibri</vt:lpstr>
      <vt:lpstr>Trebuchet MS</vt:lpstr>
      <vt:lpstr>Office 佈景主題</vt:lpstr>
      <vt:lpstr>系統架構及具體交付項目</vt:lpstr>
      <vt:lpstr>系統架構及具體交付項目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劉家甄</dc:creator>
  <cp:lastModifiedBy>張永昇</cp:lastModifiedBy>
  <cp:revision>4</cp:revision>
  <dcterms:created xsi:type="dcterms:W3CDTF">2025-01-10T03:32:57Z</dcterms:created>
  <dcterms:modified xsi:type="dcterms:W3CDTF">2026-08-11T11:05:07Z</dcterms:modified>
</cp:coreProperties>
</file>